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SHANT GIRI" userId="fd601e8d16fbe851" providerId="LiveId" clId="{3EE9B37B-2CCC-4382-87C5-8848E438C463}"/>
    <pc:docChg chg="modSld">
      <pc:chgData name="NISHANT GIRI" userId="fd601e8d16fbe851" providerId="LiveId" clId="{3EE9B37B-2CCC-4382-87C5-8848E438C463}" dt="2026-10-14T07:21:17.921" v="7" actId="1076"/>
      <pc:docMkLst>
        <pc:docMk/>
      </pc:docMkLst>
      <pc:sldChg chg="modSp mod">
        <pc:chgData name="NISHANT GIRI" userId="fd601e8d16fbe851" providerId="LiveId" clId="{3EE9B37B-2CCC-4382-87C5-8848E438C463}" dt="2026-10-14T07:20:43.020" v="3" actId="113"/>
        <pc:sldMkLst>
          <pc:docMk/>
          <pc:sldMk cId="0" sldId="257"/>
        </pc:sldMkLst>
        <pc:spChg chg="mod">
          <ac:chgData name="NISHANT GIRI" userId="fd601e8d16fbe851" providerId="LiveId" clId="{3EE9B37B-2CCC-4382-87C5-8848E438C463}" dt="2026-10-14T07:20:43.020" v="3" actId="113"/>
          <ac:spMkLst>
            <pc:docMk/>
            <pc:sldMk cId="0" sldId="257"/>
            <ac:spMk id="4" creationId="{00000000-0000-0000-0000-000000000000}"/>
          </ac:spMkLst>
        </pc:spChg>
        <pc:spChg chg="mod">
          <ac:chgData name="NISHANT GIRI" userId="fd601e8d16fbe851" providerId="LiveId" clId="{3EE9B37B-2CCC-4382-87C5-8848E438C463}" dt="2026-10-14T07:20:36.115" v="2" actId="255"/>
          <ac:spMkLst>
            <pc:docMk/>
            <pc:sldMk cId="0" sldId="257"/>
            <ac:spMk id="6" creationId="{00000000-0000-0000-0000-000000000000}"/>
          </ac:spMkLst>
        </pc:spChg>
      </pc:sldChg>
      <pc:sldChg chg="modSp mod">
        <pc:chgData name="NISHANT GIRI" userId="fd601e8d16fbe851" providerId="LiveId" clId="{3EE9B37B-2CCC-4382-87C5-8848E438C463}" dt="2026-10-14T07:21:17.921" v="7" actId="1076"/>
        <pc:sldMkLst>
          <pc:docMk/>
          <pc:sldMk cId="0" sldId="258"/>
        </pc:sldMkLst>
        <pc:spChg chg="mod">
          <ac:chgData name="NISHANT GIRI" userId="fd601e8d16fbe851" providerId="LiveId" clId="{3EE9B37B-2CCC-4382-87C5-8848E438C463}" dt="2026-10-14T07:21:09.006" v="6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NISHANT GIRI" userId="fd601e8d16fbe851" providerId="LiveId" clId="{3EE9B37B-2CCC-4382-87C5-8848E438C463}" dt="2026-10-14T07:20:58.426" v="5" actId="255"/>
          <ac:spMkLst>
            <pc:docMk/>
            <pc:sldMk cId="0" sldId="258"/>
            <ac:spMk id="6" creationId="{00000000-0000-0000-0000-000000000000}"/>
          </ac:spMkLst>
        </pc:spChg>
        <pc:spChg chg="mod">
          <ac:chgData name="NISHANT GIRI" userId="fd601e8d16fbe851" providerId="LiveId" clId="{3EE9B37B-2CCC-4382-87C5-8848E438C463}" dt="2026-10-14T07:21:17.921" v="7" actId="1076"/>
          <ac:spMkLst>
            <pc:docMk/>
            <pc:sldMk cId="0" sldId="258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COVID-19 GLOBAL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72C4"/>
                </a:solidFill>
                <a:latin typeface="Calibri"/>
              </a:defRPr>
            </a:pPr>
            <a:r>
              <a:t>Data Visualization Techniques  |  Public Health Project  |  Group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C8"/>
                </a:solidFill>
                <a:latin typeface="Calibri"/>
              </a:defRPr>
            </a:pPr>
            <a:r>
              <a:t>Aashi Kohad (02)   •   Himanshu Yadav (20)   •   Nishant Giri (37)   •   Shreyash Karemore (55)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96"/>
                </a:solidFill>
                <a:latin typeface="Calibri"/>
              </a:defRPr>
            </a:pPr>
            <a:r>
              <a:t>Submission: 14 October 2026   |   LA-2: 15 October 2026   |   Speaking Time: 2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846320"/>
            <a:ext cx="8503920" cy="109728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C8C8C8"/>
                </a:solidFill>
                <a:latin typeface="Calibri"/>
              </a:defRPr>
            </a:pPr>
            <a:r>
              <a:t>Objective: Transform raw COVID-19 data into interactive visualizations that reveal global trends, regional disparities, and actionable insights for public health decision-making.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Dataset &amp; Analytical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03520" cy="5303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299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472C4"/>
                </a:solidFill>
                <a:latin typeface="Calibri"/>
              </a:defRPr>
            </a:pPr>
            <a:r>
              <a:rPr dirty="0"/>
              <a:t>Dataset Discovery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Source: Our World in Data (OWID) — COVID-19 Dataset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~300,000+ rows  |  67 columns  |  Jan 2020 – Aug 2024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One row per country per day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Variables: cases, deaths, vaccinations, ICU, testing, demographics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Geographical: </a:t>
            </a:r>
            <a:r>
              <a:rPr sz="1600" dirty="0" err="1"/>
              <a:t>iso_code</a:t>
            </a:r>
            <a:r>
              <a:rPr sz="1600" dirty="0"/>
              <a:t>, continent, location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Temporal: daily date granularity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Key issues: substantial </a:t>
            </a:r>
            <a:r>
              <a:rPr sz="1600" dirty="0" err="1"/>
              <a:t>NaN</a:t>
            </a:r>
            <a:r>
              <a:rPr sz="1600" dirty="0"/>
              <a:t> in vaccination &amp; hospitalization fields; OWID aggregate rows excluded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97280"/>
            <a:ext cx="5486400" cy="5303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12064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472C4"/>
                </a:solidFill>
                <a:latin typeface="Calibri"/>
              </a:defRPr>
            </a:pPr>
            <a:r>
              <a:rPr dirty="0"/>
              <a:t>Five Analytical Questions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Q1: Cases vs. deaths over time — did later waves decouple? → Dual Line Chart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Q2: Does higher median age always mean more deaths? → Scatter Plot (by continent)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Q3: Death-rate variation between vs. within continents → Box Plot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Q4: Seasonal mortality patterns? → Heatmap (year × month)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Q5: Vaccination coverage — one cluster or two? → Histogram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Findings &amp;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943600" cy="5303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577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FC107"/>
                </a:solidFill>
                <a:latin typeface="Calibri"/>
              </a:defRPr>
            </a:pPr>
            <a:r>
              <a:t>Five Major Findings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1. Later waves had record cases but far fewer deaths — vaccines work.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2. Older countries had more deaths per million, but Japan &amp; others broke the pattern — policy matters.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3. Between-continent death-rate variation exceeds within-continent variation.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4. Northern Hemisphere winter months are consistently deadlier — seasonal pattern confirmed.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5. Global vaccination coverage is bimodal — two distinct groups of countries exist.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109345"/>
            <a:ext cx="5029200" cy="5303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0" y="1463040"/>
            <a:ext cx="466344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7AE60"/>
                </a:solidFill>
                <a:latin typeface="Calibri"/>
              </a:defRPr>
            </a:pPr>
            <a:r>
              <a:rPr dirty="0"/>
              <a:t>Three Actionable Recommendations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1. Close the vaccination gap — fund COVAX-style programs and regional manufacturing.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2. Prepare healthcare seasonally — deploy boosters pre-winter, surge hospital capacity in peak months.</a:t>
            </a:r>
          </a:p>
          <a:p>
            <a:pPr>
              <a:spcAft>
                <a:spcPts val="4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rPr sz="1600" dirty="0"/>
              <a:t>3. Standardize global data reporting — mandatory minimum indicators for faster, evidence-based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4572000"/>
            <a:ext cx="5029200" cy="1828800"/>
          </a:xfrm>
          <a:prstGeom prst="roundRect">
            <a:avLst/>
          </a:prstGeom>
          <a:solidFill>
            <a:srgbClr val="3D1E1E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Wrong Viz Challenge (Q5)</a:t>
            </a:r>
          </a:p>
          <a:p>
            <a:pPr>
              <a:defRPr sz="1200">
                <a:solidFill>
                  <a:srgbClr val="27AE60"/>
                </a:solidFill>
                <a:latin typeface="Calibri"/>
              </a:defRPr>
            </a:pPr>
            <a:r>
              <a:t>✓ Histogram → shows bimodal distribution</a:t>
            </a:r>
          </a:p>
          <a:p>
            <a:pPr>
              <a:defRPr sz="1200">
                <a:solidFill>
                  <a:srgbClr val="E74C3C"/>
                </a:solidFill>
                <a:latin typeface="Calibri"/>
              </a:defRPr>
            </a:pPr>
            <a:r>
              <a:t>✗ Pie Chart → hides distribution shape, masks the two-group reality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Critique, Data Story &amp; 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86400" cy="27432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472C4"/>
                </a:solidFill>
                <a:latin typeface="Calibri"/>
              </a:defRPr>
            </a:pPr>
            <a:r>
              <a:t>AI Critique of Q1 Visualization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✓ ACCEPTED — Use dual y-axis (cases vs. deaths differ by magnitude)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✓ ACCEPTED — Add event annotations (vaccine rollout, Omicron wave)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✗ REJECTED — Log scale (distorts perceived severity for our audience)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✓ ACCEPTED — Clarify legend labels with '(7-day smoothed)'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97280"/>
            <a:ext cx="5486400" cy="27432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07"/>
                </a:solidFill>
                <a:latin typeface="Calibri"/>
              </a:defRPr>
            </a:pPr>
            <a:r>
              <a:t>2-Minute Data Story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Discovery: Vaccines decoupled cases from deaths; the world split into two vaccination groups; winter months are deadlier.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Why it matters: Without visualization, these patterns are invisible in 300K+ rows. Policy needs evidence.</a:t>
            </a:r>
          </a:p>
          <a:p>
            <a:pPr>
              <a:spcAft>
                <a:spcPts val="400"/>
              </a:spcAft>
              <a:defRPr sz="1300">
                <a:solidFill>
                  <a:srgbClr val="C8C8C8"/>
                </a:solidFill>
                <a:latin typeface="Calibri"/>
              </a:defRPr>
            </a:pPr>
            <a:r>
              <a:t>Action: Close the vaccine gap, prepare seasonally, standardize reporting.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389120"/>
            <a:ext cx="8503920" cy="2011680"/>
          </a:xfrm>
          <a:prstGeom prst="roundRect">
            <a:avLst/>
          </a:prstGeom>
          <a:solidFill>
            <a:srgbClr val="1B3A5C"/>
          </a:solidFill>
          <a:ln w="254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  <a:p>
            <a:pPr algn="ctr">
              <a:defRPr sz="1400">
                <a:solidFill>
                  <a:srgbClr val="C8C8C8"/>
                </a:solidFill>
                <a:latin typeface="Calibri"/>
              </a:defRPr>
            </a:pPr>
            <a:r>
              <a:t>Group 2: Aashi Kohad • Himanshu Yadav • Nishant Giri • Shreyash Karemore</a:t>
            </a:r>
          </a:p>
          <a:p>
            <a:pPr algn="ctr">
              <a:defRPr sz="1800">
                <a:solidFill>
                  <a:srgbClr val="4472C4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528</Words>
  <Application>Microsoft Office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NISHANT GIRI</cp:lastModifiedBy>
  <cp:revision>1</cp:revision>
  <dcterms:created xsi:type="dcterms:W3CDTF">2013-01-27T09:14:16Z</dcterms:created>
  <dcterms:modified xsi:type="dcterms:W3CDTF">2026-10-14T07:21:18Z</dcterms:modified>
  <cp:category/>
</cp:coreProperties>
</file>