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1F5F9"/>
                </a:solidFill>
              </a:defRPr>
            </a:pPr>
            <a:r>
              <a:t>COVID-19 Global Data Explorer</a:t>
            </a:r>
          </a:p>
          <a:p>
            <a:pPr>
              <a:defRPr sz="1800">
                <a:solidFill>
                  <a:srgbClr val="3B82F6"/>
                </a:solidFill>
              </a:defRPr>
            </a:pPr>
            <a:r>
              <a:t>Data Visualization Techniques (LA-2) | Public Health Analytical Project | Group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1033272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🌐 Live Interactive Dashboard: https://covid19-global-data-explorer-lqpxjhstcgzwc7gxhnshtd.streamlit.app/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💻 GitHub Repository: https://github.com/nishant-giri-j/covid19-global-data-explorer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1033272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1F5F9"/>
                </a:solidFill>
              </a:defRPr>
            </a:pPr>
            <a:r>
              <a:t>Group 2 Members: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Roll No. 02: Aashi Kohad — Dataset Discovery &amp; Analytical Storytelling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Roll No. 20: Himanshu Yadav — Analytical Questions &amp; Visualization Selection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Roll No. 37: Nishant Giri — Dashboard Development &amp; Cloud Deployment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Roll No. 55: Shreyash Karemore — Wrong Viz Challenge &amp; AI Critic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Five Analytical Questions &amp; Visualizations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3B82F6"/>
                </a:solidFill>
              </a:defRPr>
            </a:pPr>
            <a:r>
              <a:t>Q1. Wave Decoupling Dynamics  ➔  [Dual-Axis Line Chart]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Cases (millions) vs deaths (thousands) differ by 1,000x. Secondary axis reveals decoupling during 2022 Omicron wave.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3B82F6"/>
                </a:solidFill>
              </a:defRPr>
            </a:pPr>
            <a:r>
              <a:t>Q2. Demographic Age vs Deaths  ➔  [Scatter Plot by Continent]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Shows positive correlation while spotlighting outliers like Japan (high age, low deaths) and Peru.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3B82F6"/>
                </a:solidFill>
              </a:defRPr>
            </a:pPr>
            <a:r>
              <a:t>Q3. Continental Spread  ➔  [Box Plot by Continent]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Demonstrates that inter-continental differences dominate over variation inside individual continents.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3B82F6"/>
                </a:solidFill>
              </a:defRPr>
            </a:pPr>
            <a:r>
              <a:t>Q4. Seasonal Mortality Cycles  ➔  [Year × Month Heatmap]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Recurring dark bands in Dec, Jan, and Feb expose respiratory winter surge cycles across consecutive years.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3B82F6"/>
                </a:solidFill>
              </a:defRPr>
            </a:pPr>
            <a:r>
              <a:t>Q5. Global Vaccine Equity  ➔  [Frequency Histogram]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Reveals a stark bimodal distribution (&lt;30% vs &gt;75%) that a single global average completely conceals.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Live Dashboard Showcase &amp; Visualizations</a:t>
            </a:r>
          </a:p>
        </p:txBody>
      </p:sp>
      <p:pic>
        <p:nvPicPr>
          <p:cNvPr id="4" name="Picture 3" descr="screenshot_1_overview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2962335"/>
          </a:xfrm>
          <a:prstGeom prst="rect">
            <a:avLst/>
          </a:prstGeom>
        </p:spPr>
      </p:pic>
      <p:pic>
        <p:nvPicPr>
          <p:cNvPr id="5" name="Picture 4" descr="screenshot_2_time_series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300305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4937760"/>
            <a:ext cx="10698480" cy="12801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1F5F9"/>
                </a:solidFill>
              </a:defRPr>
            </a:pPr>
            <a:r>
              <a:t>Interactive Features: Real-time KPI cards, country multiselect, date window slider, and dual-axis longitudinal trend comparisons.</a:t>
            </a:r>
          </a:p>
          <a:p>
            <a:pPr>
              <a:defRPr sz="1300" b="1">
                <a:solidFill>
                  <a:srgbClr val="22C55E"/>
                </a:solidFill>
              </a:defRPr>
            </a:pPr>
            <a:r>
              <a:t>Live App Link: https://covid19-global-data-explorer-lqpxjhstcgzwc7gxhnshtd.streamlit.app/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Five Major Findings &amp; Three Actionable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3B82F6"/>
                </a:solidFill>
              </a:defRPr>
            </a:pPr>
            <a:r>
              <a:t>💡 Five Major Findings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1. Decoupling: Omicron wave produced 4x cases with proportionally far fewer deaths due to vaccines.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2. Age Sensitivity: Age correlates with deaths, but Japan was an outlier due to rapid masking.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3. Continental Disparities: Inter-continental variance exceeded internal continental variation.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4. Winter Seasonality: Recurring mortality surges in Dec–Feb across consecutive years.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5. Bimodal Vaccination: Countries split into twin clusters (&lt;30% vs &gt;75%), proving extreme inequity.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2C55E"/>
                </a:solidFill>
              </a:defRPr>
            </a:pPr>
            <a:r>
              <a:t>🎯 Three Actionable Recommendations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1. Regional mRNA Hubs: Fund decentralized vaccine manufacturing in Africa &amp; Latin America.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2. Seasonal Preparedness: Schedule booster campaigns in autumn ahead of winter surges.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3. Standardized Surveillance: Mandate unified pandemic reporting standards under WHO.</a:t>
            </a:r>
          </a:p>
          <a:p>
            <a:br/>
            <a:pPr>
              <a:defRPr b="1" sz="1400">
                <a:solidFill>
                  <a:srgbClr val="F87171"/>
                </a:solidFill>
              </a:defRPr>
            </a:pPr>
            <a:r>
              <a:t>⚠️ Wrong Visualization Challenge (Q5):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Correct Histogram exposes bimodal equity split. Misleading Pie Chart discretizes data into equal slices, concealing the valley of unimmunized nations.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2-Minute Data Story &amp; AI as a Critic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301752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C084FC"/>
                </a:solidFill>
              </a:defRPr>
            </a:pPr>
            <a:r>
              <a:t>🎙️ 2-Minute Data Story Framework: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1. What did we discover? Pandemic waves decoupled in 2022 (Omicron peak blunted by vaccines); age did not dictate death rates in Japan; and vaccine coverage formed a bimodal divide.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2. Why does it matter? Tabular spreadsheets hide these realities. Without dual-axis plots and histograms, vaccine effectiveness is unseen and global vaccine inequality is buried under misleading averages.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3. What action should be taken? Fund regional manufacturing hubs in low-income nations, schedule seasonal autumn booster surges, and mandate standardized real-time surveillance.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3B82F6"/>
                </a:solidFill>
              </a:defRPr>
            </a:pPr>
            <a:r>
              <a:t>🤖 AI as a Critic Evaluation Summary (Q1):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Dual Y-Axis [ACCEPTED]: Solves 1,000x scale gap between daily cases and deaths.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Milestone Annotations [ACCEPTED]: Adds vital context (vaccine rollout, Omicron surge).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Logarithmic Scale [REJECTED]: Distorts public health severity and absolute mortality perception.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7-Day Smoothed Label [ACCEPTED]: Ensures transparency regarding weekend reporting lags.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